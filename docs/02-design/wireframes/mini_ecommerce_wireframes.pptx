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01.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1143000"/>
            <a:ext cx="5074920" cy="489204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9080" y="1508760"/>
            <a:ext cx="4069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1E1E1E"/>
                </a:solidFill>
                <a:latin typeface="Arial"/>
              </a:rPr>
              <a:t>Customer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194560"/>
            <a:ext cx="37033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2423160"/>
            <a:ext cx="3703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423160"/>
            <a:ext cx="3520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customer@example.com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990088"/>
            <a:ext cx="37033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3218688"/>
            <a:ext cx="3703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3218688"/>
            <a:ext cx="3520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••••••••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14800"/>
            <a:ext cx="3703320" cy="5029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4114800"/>
            <a:ext cx="3703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754880"/>
            <a:ext cx="3703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5A5A5A"/>
                </a:solidFill>
                <a:latin typeface="Arial"/>
              </a:rPr>
              <a:t>Forgot password?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5166360"/>
            <a:ext cx="3703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Don't have an account?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Login → Product List → Product Detail → Cart → Checkout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02.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987552"/>
            <a:ext cx="5074920" cy="534924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9080" y="1280160"/>
            <a:ext cx="4069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1E1E1E"/>
                </a:solidFill>
                <a:latin typeface="Arial"/>
              </a:rPr>
              <a:t>Create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645919"/>
            <a:ext cx="37033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Full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874519"/>
            <a:ext cx="3703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874519"/>
            <a:ext cx="3520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Nguyen Van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423160"/>
            <a:ext cx="37033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Email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651760"/>
            <a:ext cx="3703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651760"/>
            <a:ext cx="3520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customer@example.com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00400"/>
            <a:ext cx="37033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Password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3429000"/>
            <a:ext cx="3703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429000"/>
            <a:ext cx="3520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••••••••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977639"/>
            <a:ext cx="37033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Confirm Password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206240"/>
            <a:ext cx="3703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4206240"/>
            <a:ext cx="3520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••••••••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5166360"/>
            <a:ext cx="3703320" cy="5029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5166360"/>
            <a:ext cx="3703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5760720"/>
            <a:ext cx="3703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Already have an account? 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Creates CUSTOMER account. No public Admin registration.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03. Product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Customer / Guest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5544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MINI 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914400"/>
            <a:ext cx="384048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914400"/>
            <a:ext cx="3566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Arial"/>
              </a:rPr>
              <a:t>Search products...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Cart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72768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54480"/>
            <a:ext cx="1417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554480"/>
            <a:ext cx="1188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Category 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1472" y="1554480"/>
            <a:ext cx="1417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554480"/>
            <a:ext cx="1188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Sort 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148840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2258568"/>
            <a:ext cx="2112264" cy="1463040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743200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0A0A0"/>
                </a:solidFill>
                <a:latin typeface="Arial"/>
              </a:rPr>
              <a:t>PRODUCT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023360"/>
            <a:ext cx="20116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  <a:latin typeface="Arial"/>
              </a:rPr>
              <a:t>Laptop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389120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  <a:latin typeface="Arial"/>
              </a:rPr>
              <a:t>$800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690872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In stock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" y="4937760"/>
            <a:ext cx="2011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937760"/>
            <a:ext cx="20116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View detail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2148840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30168" y="2258568"/>
            <a:ext cx="2112264" cy="1463040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2743200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0A0A0"/>
                </a:solidFill>
                <a:latin typeface="Arial"/>
              </a:rPr>
              <a:t>PRODUCT 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5032" y="4023360"/>
            <a:ext cx="20116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  <a:latin typeface="Arial"/>
              </a:rPr>
              <a:t>Keyboard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4389120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  <a:latin typeface="Arial"/>
              </a:rPr>
              <a:t>$60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5032" y="4690872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In stock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85032" y="4937760"/>
            <a:ext cx="2011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4937760"/>
            <a:ext cx="20116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View detail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2148840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19088" y="2258568"/>
            <a:ext cx="2112264" cy="1463040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743200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0A0A0"/>
                </a:solidFill>
                <a:latin typeface="Arial"/>
              </a:rPr>
              <a:t>PRODUCT IMAGE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4023360"/>
            <a:ext cx="20116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  <a:latin typeface="Arial"/>
              </a:rPr>
              <a:t>Mouse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4389120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  <a:latin typeface="Arial"/>
              </a:rPr>
              <a:t>$30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4690872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In stock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73952" y="4937760"/>
            <a:ext cx="2011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4937760"/>
            <a:ext cx="20116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View detail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8280" y="2148840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08007" y="2258568"/>
            <a:ext cx="2112264" cy="1463040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59" y="2743200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0A0A0"/>
                </a:solidFill>
                <a:latin typeface="Arial"/>
              </a:rPr>
              <a:t>PRODUCT IMAGE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2872" y="4023360"/>
            <a:ext cx="20116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  <a:latin typeface="Arial"/>
              </a:rPr>
              <a:t>Monitor 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2872" y="4389120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  <a:latin typeface="Arial"/>
              </a:rPr>
              <a:t>$250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2872" y="4690872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In stock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62872" y="4937760"/>
            <a:ext cx="2011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62872" y="4937760"/>
            <a:ext cx="20116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View detail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571500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E1E1E"/>
                </a:solidFill>
                <a:latin typeface="Arial"/>
              </a:rPr>
              <a:t>1  2  3  4  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Guest: search/filter/sort/paginate/view. Cart requires Customer login.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04. Product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Customer / Guest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5544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MINI 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914400"/>
            <a:ext cx="384048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914400"/>
            <a:ext cx="3566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Arial"/>
              </a:rPr>
              <a:t>Search products...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Cart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600200"/>
            <a:ext cx="4663440" cy="4206240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A0A0A0"/>
                </a:solidFill>
                <a:latin typeface="Arial"/>
              </a:rPr>
              <a:t>PRODUCT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691640"/>
            <a:ext cx="4754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E1E1E"/>
                </a:solidFill>
                <a:latin typeface="Arial"/>
              </a:rPr>
              <a:t>Laptop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194560"/>
            <a:ext cx="4754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SKU: LAP-A-001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65176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$800.00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154680"/>
            <a:ext cx="4754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1E1E1E"/>
                </a:solidFill>
                <a:latin typeface="Arial"/>
              </a:rPr>
              <a:t>Stock: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657600"/>
            <a:ext cx="47548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1E1E1E"/>
                </a:solidFill>
                <a:latin typeface="Arial"/>
              </a:rPr>
              <a:t>Basic product description shown here.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389120"/>
            <a:ext cx="1463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Quantity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4617720"/>
            <a:ext cx="14630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79" y="4617720"/>
            <a:ext cx="1280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4846320"/>
            <a:ext cx="2194560" cy="5029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846320"/>
            <a:ext cx="2194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ADD TO CART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Guest may view details; Add to Cart requires authentication.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05. Cart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5544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MINI 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914400"/>
            <a:ext cx="384048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914400"/>
            <a:ext cx="3566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Arial"/>
              </a:rPr>
              <a:t>Search products...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Cart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72768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Shopping Cart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148840"/>
            <a:ext cx="3200400" cy="530352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148840"/>
            <a:ext cx="312724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Product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148840"/>
            <a:ext cx="1554480" cy="530352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148840"/>
            <a:ext cx="14813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Unit Price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148840"/>
            <a:ext cx="1371600" cy="530352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22976" y="2148840"/>
            <a:ext cx="129844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Quantity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148840"/>
            <a:ext cx="1554480" cy="530352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4576" y="2148840"/>
            <a:ext cx="14813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Subtotal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148840"/>
            <a:ext cx="1280160" cy="530352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5" y="2148840"/>
            <a:ext cx="1207007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679192"/>
            <a:ext cx="3200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2679192"/>
            <a:ext cx="312724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Laptop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2679192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8496" y="2679192"/>
            <a:ext cx="14813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$800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679192"/>
            <a:ext cx="1371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22976" y="2679192"/>
            <a:ext cx="129844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2679192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4576" y="2679192"/>
            <a:ext cx="14813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$800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679192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49055" y="2679192"/>
            <a:ext cx="1207007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Remove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209544"/>
            <a:ext cx="3200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3209544"/>
            <a:ext cx="312724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Mouse 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3209544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68496" y="3209544"/>
            <a:ext cx="14813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$30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3209544"/>
            <a:ext cx="1371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22976" y="3209544"/>
            <a:ext cx="129844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3209544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3209544"/>
            <a:ext cx="14813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$60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209544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49055" y="3209544"/>
            <a:ext cx="1207007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Remove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3657600"/>
            <a:ext cx="310896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3840480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E1E1E"/>
                </a:solidFill>
                <a:latin typeface="Arial"/>
              </a:rPr>
              <a:t>Cart Summary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25196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1E1E1E"/>
                </a:solidFill>
                <a:latin typeface="Arial"/>
              </a:rPr>
              <a:t>Total: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425196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1E1E1E"/>
                </a:solidFill>
                <a:latin typeface="Arial"/>
              </a:rPr>
              <a:t>$860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4617720"/>
            <a:ext cx="2560320" cy="457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461772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CHECKOUT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One active cart per Customer; quantity cannot exceed current stock.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06.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5544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MINI 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914400"/>
            <a:ext cx="384048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914400"/>
            <a:ext cx="3566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Arial"/>
              </a:rPr>
              <a:t>Search products...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  <a:latin typeface="Arial"/>
              </a:rPr>
              <a:t>Cart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777240"/>
            <a:ext cx="8229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72768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Checkout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603504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331720"/>
            <a:ext cx="5394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E1E1E"/>
                </a:solidFill>
                <a:latin typeface="Arial"/>
              </a:rPr>
              <a:t>Shipping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651760"/>
            <a:ext cx="24688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Recipient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2880360"/>
            <a:ext cx="24688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88036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Nguyen Van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651760"/>
            <a:ext cx="24688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Phone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880360"/>
            <a:ext cx="24688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288036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09xxxxxxxx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447287"/>
            <a:ext cx="5166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Address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675887"/>
            <a:ext cx="5166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675887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123 Example Street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42816"/>
            <a:ext cx="5166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Note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4471416"/>
            <a:ext cx="5166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471416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Optional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86600" y="2103120"/>
            <a:ext cx="3977639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2331720"/>
            <a:ext cx="3429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E1E1E"/>
                </a:solidFill>
                <a:latin typeface="Arial"/>
              </a:rPr>
              <a:t>Order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834640"/>
            <a:ext cx="3200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Laptop A ×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34640"/>
            <a:ext cx="640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1E1E1E"/>
                </a:solidFill>
                <a:latin typeface="Arial"/>
              </a:rPr>
              <a:t>$800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246120"/>
            <a:ext cx="3200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Mouse C ×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246120"/>
            <a:ext cx="640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1E1E1E"/>
                </a:solidFill>
                <a:latin typeface="Arial"/>
              </a:rPr>
              <a:t>$60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88620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E1E1E"/>
                </a:solidFill>
                <a:latin typeface="Arial"/>
              </a:rPr>
              <a:t>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886200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1E1E1E"/>
                </a:solidFill>
                <a:latin typeface="Arial"/>
              </a:rPr>
              <a:t>$860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4663440"/>
            <a:ext cx="3383280" cy="530352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4663440"/>
            <a:ext cx="33832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PLACE 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Transaction: validate → create order/items → deduct stock → clear cart; rollback on failure.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07. Order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54680" y="1417320"/>
            <a:ext cx="589788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1828800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1E1E1E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423160"/>
            <a:ext cx="4983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1E1E1E"/>
                </a:solidFill>
                <a:latin typeface="Arial"/>
              </a:rPr>
              <a:t>Order Placed Successfully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017520"/>
            <a:ext cx="4892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Arial"/>
              </a:rPr>
              <a:t>Order ID: ORD-2026-0001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474720"/>
            <a:ext cx="4892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E1E1E"/>
                </a:solidFill>
                <a:latin typeface="Arial"/>
              </a:rPr>
              <a:t>Total: $860.00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931920"/>
            <a:ext cx="4892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5A5A5A"/>
                </a:solidFill>
                <a:latin typeface="Arial"/>
              </a:rPr>
              <a:t>Order status: 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754880"/>
            <a:ext cx="1828800" cy="475488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4754880"/>
            <a:ext cx="18288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CONTINUE SHOPPING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754880"/>
            <a:ext cx="17830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754880"/>
            <a:ext cx="178308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VIEW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Successful checkout clears the active cart and creates PENDING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08.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1143000"/>
            <a:ext cx="5074920" cy="489204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9080" y="1508760"/>
            <a:ext cx="4069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1E1E1E"/>
                </a:solidFill>
                <a:latin typeface="Arial"/>
              </a:rPr>
              <a:t>Admin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194560"/>
            <a:ext cx="37033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2423160"/>
            <a:ext cx="3703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423160"/>
            <a:ext cx="3520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admin@example.com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990088"/>
            <a:ext cx="37033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3218688"/>
            <a:ext cx="3703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3218688"/>
            <a:ext cx="35204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••••••••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14800"/>
            <a:ext cx="3703320" cy="5029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4114800"/>
            <a:ext cx="3703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846320"/>
            <a:ext cx="3703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5A5A5A"/>
                </a:solidFill>
                <a:latin typeface="Arial"/>
              </a:rPr>
              <a:t>Default Admin account is seeded.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Admin cannot self-register publicly.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09.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5544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MINI 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77240"/>
            <a:ext cx="13716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E1E1E"/>
                </a:solidFill>
                <a:latin typeface="Arial"/>
              </a:rPr>
              <a:t>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1965960" cy="4709160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600200" cy="502920"/>
          </a:xfrm>
          <a:prstGeom prst="round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2316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63239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39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0332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72768"/>
            <a:ext cx="3200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148840"/>
            <a:ext cx="242316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258568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56032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2148840"/>
            <a:ext cx="242316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258568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56032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3383280"/>
            <a:ext cx="242316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3493008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Pending 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79476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3383280"/>
            <a:ext cx="2423160" cy="9601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3493008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79476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$12,480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2148840"/>
            <a:ext cx="27432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2377440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E1E1E"/>
                </a:solidFill>
                <a:latin typeface="Arial"/>
              </a:rPr>
              <a:t>Recent Orders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88036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ORD-001 PENDING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38328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ORD-002 SHIPPING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88620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ORD-003 DELIVERED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43891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ORD-004 CONFIRMED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Overview; detailed management via Products, Categories and Orders.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10. Product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5544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MINI 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77240"/>
            <a:ext cx="13716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E1E1E"/>
                </a:solidFill>
                <a:latin typeface="Arial"/>
              </a:rPr>
              <a:t>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1965960" cy="4709160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23160"/>
            <a:ext cx="1600200" cy="502920"/>
          </a:xfrm>
          <a:prstGeom prst="round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63239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39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0332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72768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Products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572768"/>
            <a:ext cx="1645920" cy="41148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1572768"/>
            <a:ext cx="1645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+ ADD 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148840"/>
            <a:ext cx="123444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148840"/>
            <a:ext cx="11612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SKU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2148840"/>
            <a:ext cx="150876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2148840"/>
            <a:ext cx="143560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Name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2148840"/>
            <a:ext cx="91440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4416" y="214884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Price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148840"/>
            <a:ext cx="77724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2148840"/>
            <a:ext cx="7040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Stock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79" y="2148840"/>
            <a:ext cx="105156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06055" y="2148840"/>
            <a:ext cx="97840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Category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148840"/>
            <a:ext cx="91440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214884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2148840"/>
            <a:ext cx="210312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2015" y="2148840"/>
            <a:ext cx="202996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2651760"/>
            <a:ext cx="1234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71216" y="2651760"/>
            <a:ext cx="11612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LAP-A-001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80" y="2651760"/>
            <a:ext cx="15087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05656" y="2651760"/>
            <a:ext cx="143560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Laptop 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265176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14416" y="265176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$800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2651760"/>
            <a:ext cx="777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2651760"/>
            <a:ext cx="7040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79" y="2651760"/>
            <a:ext cx="1051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06055" y="2651760"/>
            <a:ext cx="97840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Laptop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265176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7615" y="265176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ACTIVE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2651760"/>
            <a:ext cx="2103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72015" y="2651760"/>
            <a:ext cx="202996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Edit | Delete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3154680"/>
            <a:ext cx="1234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71216" y="3154680"/>
            <a:ext cx="11612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KEY-B-002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69080" y="3154680"/>
            <a:ext cx="15087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3154680"/>
            <a:ext cx="143560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Keyboard 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315468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14416" y="315468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$60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3154680"/>
            <a:ext cx="777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28816" y="3154680"/>
            <a:ext cx="7040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30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69479" y="3154680"/>
            <a:ext cx="1051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06055" y="3154680"/>
            <a:ext cx="97840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Keyboard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315468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57615" y="315468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ACTIVE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3154680"/>
            <a:ext cx="2103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72015" y="3154680"/>
            <a:ext cx="202996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Edit | Delete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3657600"/>
            <a:ext cx="1234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71216" y="3657600"/>
            <a:ext cx="11612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MOU-C-003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69080" y="3657600"/>
            <a:ext cx="15087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05656" y="3657600"/>
            <a:ext cx="143560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Mouse 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77840" y="365760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14416" y="365760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$30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92240" y="3657600"/>
            <a:ext cx="777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28816" y="3657600"/>
            <a:ext cx="7040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50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69479" y="3657600"/>
            <a:ext cx="1051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06055" y="3657600"/>
            <a:ext cx="97840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Mouse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21040" y="365760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57615" y="365760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ACTIVE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35440" y="3657600"/>
            <a:ext cx="2103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72015" y="3657600"/>
            <a:ext cx="202996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Edit | Delete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34640" y="4160520"/>
            <a:ext cx="1234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71216" y="4160520"/>
            <a:ext cx="11612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MON-D-004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069080" y="4160520"/>
            <a:ext cx="15087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05656" y="4160520"/>
            <a:ext cx="143560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Monitor 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77840" y="416052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14416" y="416052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$250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92240" y="4160520"/>
            <a:ext cx="777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28816" y="4160520"/>
            <a:ext cx="7040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69479" y="4160520"/>
            <a:ext cx="1051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6055" y="4160520"/>
            <a:ext cx="97840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Monitor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21040" y="416052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57615" y="416052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INACTIVE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235440" y="4160520"/>
            <a:ext cx="2103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72015" y="4160520"/>
            <a:ext cx="202996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Edit | Delete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Product CRUD; SKU unique. Product fields: name, description, price, stock, image URL, category, status.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11. Product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5544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MINI 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77240"/>
            <a:ext cx="13716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E1E1E"/>
                </a:solidFill>
                <a:latin typeface="Arial"/>
              </a:rPr>
              <a:t>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1965960" cy="4709160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23160"/>
            <a:ext cx="1600200" cy="502920"/>
          </a:xfrm>
          <a:prstGeom prst="round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63239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39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0332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72768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Add / Edit Product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103120"/>
            <a:ext cx="8138160" cy="388620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2286000"/>
            <a:ext cx="2377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SKU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514600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2514600"/>
            <a:ext cx="2194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LAP-A-001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2286000"/>
            <a:ext cx="2377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2514600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2514600"/>
            <a:ext cx="2194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Laptop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286000"/>
            <a:ext cx="2377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Price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2514600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514600"/>
            <a:ext cx="2194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800.00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081528"/>
            <a:ext cx="2377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Stock Quantity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3310128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3310128"/>
            <a:ext cx="2194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3081528"/>
            <a:ext cx="2377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Category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3310128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3310128"/>
            <a:ext cx="2194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Laptop 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081528"/>
            <a:ext cx="2377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3310128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310128"/>
            <a:ext cx="2194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ACTIVE 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3877056"/>
            <a:ext cx="7498079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Image URL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4105656"/>
            <a:ext cx="7498079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4105656"/>
            <a:ext cx="731519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https://...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672584"/>
            <a:ext cx="7498079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Description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4901184"/>
            <a:ext cx="7498079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46120" y="4901184"/>
            <a:ext cx="731519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0A0A0"/>
                </a:solidFill>
                <a:latin typeface="Arial"/>
              </a:rPr>
              <a:t>Product description...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5559552"/>
            <a:ext cx="1234440" cy="41148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5559552"/>
            <a:ext cx="1234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SAVE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64040" y="5559552"/>
            <a:ext cx="11887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5559552"/>
            <a:ext cx="1188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CANCEL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Validation: SKU unique, price &gt; 0, stock &gt;= 0, required fields.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12. Category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5544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MINI 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77240"/>
            <a:ext cx="13716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E1E1E"/>
                </a:solidFill>
                <a:latin typeface="Arial"/>
              </a:rPr>
              <a:t>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1965960" cy="4709160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2316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63239"/>
            <a:ext cx="1600200" cy="502920"/>
          </a:xfrm>
          <a:prstGeom prst="round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39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0332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72768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Categories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572768"/>
            <a:ext cx="1645920" cy="41148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1572768"/>
            <a:ext cx="1645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+ ADD CATEGORY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148840"/>
            <a:ext cx="594360" cy="530352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148840"/>
            <a:ext cx="52120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2148840"/>
            <a:ext cx="1554480" cy="530352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5576" y="2148840"/>
            <a:ext cx="14813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Name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2148840"/>
            <a:ext cx="3017520" cy="530352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0056" y="2148840"/>
            <a:ext cx="294436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Description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2148840"/>
            <a:ext cx="1005840" cy="530352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7575" y="2148840"/>
            <a:ext cx="93268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2148840"/>
            <a:ext cx="2011680" cy="530352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43415" y="2148840"/>
            <a:ext cx="19385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679192"/>
            <a:ext cx="5943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71216" y="2679192"/>
            <a:ext cx="52120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2679192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65576" y="2679192"/>
            <a:ext cx="14813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Laptop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679192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0056" y="2679192"/>
            <a:ext cx="294436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Laptop products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2679192"/>
            <a:ext cx="1005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37575" y="2679192"/>
            <a:ext cx="93268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ACTIVE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2679192"/>
            <a:ext cx="20116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43415" y="2679192"/>
            <a:ext cx="19385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Edit | Delete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209544"/>
            <a:ext cx="5943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71216" y="3209544"/>
            <a:ext cx="52120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29000" y="3209544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65576" y="3209544"/>
            <a:ext cx="14813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Keyboard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83480" y="3209544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0056" y="3209544"/>
            <a:ext cx="294436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Keyboard products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01000" y="3209544"/>
            <a:ext cx="1005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37575" y="3209544"/>
            <a:ext cx="93268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ACTIVE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6840" y="3209544"/>
            <a:ext cx="20116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43415" y="3209544"/>
            <a:ext cx="19385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Edit | Delete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3739896"/>
            <a:ext cx="5943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71216" y="3739896"/>
            <a:ext cx="52120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29000" y="3739896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65576" y="3739896"/>
            <a:ext cx="14813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Mouse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80" y="3739896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0056" y="3739896"/>
            <a:ext cx="294436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Mouse products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01000" y="3739896"/>
            <a:ext cx="1005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37575" y="3739896"/>
            <a:ext cx="93268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ACTIVE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06840" y="3739896"/>
            <a:ext cx="20116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43415" y="3739896"/>
            <a:ext cx="19385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Edit | Delete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4270248"/>
            <a:ext cx="5943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71216" y="4270248"/>
            <a:ext cx="52120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29000" y="4270248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65576" y="4270248"/>
            <a:ext cx="14813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Monitor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83480" y="4270248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0056" y="4270248"/>
            <a:ext cx="294436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Monitor products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4270248"/>
            <a:ext cx="1005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37575" y="4270248"/>
            <a:ext cx="93268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ACTIVE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06840" y="4270248"/>
            <a:ext cx="20116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43415" y="4270248"/>
            <a:ext cx="1938528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Edit | Delete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34640" y="4846320"/>
            <a:ext cx="813816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63240" y="4846320"/>
            <a:ext cx="7680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Delete blocked while products reference the category.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Flat category structure; no category hierarchy.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13. Order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5544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MINI 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77240"/>
            <a:ext cx="13716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E1E1E"/>
                </a:solidFill>
                <a:latin typeface="Arial"/>
              </a:rPr>
              <a:t>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1965960" cy="4709160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2316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63239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39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03320"/>
            <a:ext cx="1600200" cy="502920"/>
          </a:xfrm>
          <a:prstGeom prst="round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72768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Orders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572768"/>
            <a:ext cx="13716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1572768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Status 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572768"/>
            <a:ext cx="15544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1572768"/>
            <a:ext cx="1325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Arial"/>
              </a:rPr>
              <a:t>Search order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148840"/>
            <a:ext cx="109728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71216" y="214884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Order 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2148840"/>
            <a:ext cx="141732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2148840"/>
            <a:ext cx="1344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Customer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2148840"/>
            <a:ext cx="91440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85816" y="214884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148840"/>
            <a:ext cx="96012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216" y="2148840"/>
            <a:ext cx="8869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Payment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59" y="2148840"/>
            <a:ext cx="109728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0336" y="214884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148840"/>
            <a:ext cx="91440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5" y="214884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Created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2148840"/>
            <a:ext cx="109728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5" y="214884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E1E1E"/>
                </a:solidFill>
                <a:latin typeface="Arial"/>
              </a:rPr>
              <a:t>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26517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71216" y="265176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ORD-001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265176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68496" y="2651760"/>
            <a:ext cx="1344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Customer 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49240" y="265176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85816" y="265176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$860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651760"/>
            <a:ext cx="960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0216" y="2651760"/>
            <a:ext cx="8869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UNPAID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59" y="26517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0336" y="265176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PENDING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40" y="265176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7615" y="265176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09/28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26517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72015" y="265176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315468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71216" y="315468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ORD-002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31920" y="315468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68496" y="3154680"/>
            <a:ext cx="1344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Customer 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49240" y="315468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85816" y="315468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$120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3154680"/>
            <a:ext cx="960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0216" y="3154680"/>
            <a:ext cx="8869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PAID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59" y="315468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60336" y="315468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CONFIRMED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315468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57615" y="315468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09/27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315468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72015" y="315468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View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0" y="365760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71216" y="365760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ORD-003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31920" y="365760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68496" y="3657600"/>
            <a:ext cx="1344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Customer 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49240" y="365760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85816" y="365760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$450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3657600"/>
            <a:ext cx="960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00216" y="3657600"/>
            <a:ext cx="8869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PAID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59" y="365760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60336" y="365760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SHIPPING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365760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57615" y="365760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09/27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35440" y="365760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72015" y="365760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View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834640" y="416052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71216" y="416052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ORD-004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931920" y="416052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68496" y="4160520"/>
            <a:ext cx="1344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Customer 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49240" y="416052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85816" y="416052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$75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63640" y="4160520"/>
            <a:ext cx="960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00216" y="4160520"/>
            <a:ext cx="8869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PAID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23759" y="416052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60336" y="416052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DELIVERED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21040" y="416052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57615" y="4160520"/>
            <a:ext cx="8412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09/26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235440" y="416052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72015" y="4160520"/>
            <a:ext cx="102412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1E1E1E"/>
                </a:solidFill>
                <a:latin typeface="Arial"/>
              </a:rPr>
              <a:t>View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Admin changes status only through valid transitions; order contents are immutable.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8229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Arial"/>
              </a:rPr>
              <a:t>14. Order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385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777240"/>
            <a:ext cx="109728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5544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MINI 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77240"/>
            <a:ext cx="13716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E1E1E"/>
                </a:solidFill>
                <a:latin typeface="Arial"/>
              </a:rPr>
              <a:t>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1965960" cy="4709160"/>
          </a:xfrm>
          <a:prstGeom prst="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23160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63239"/>
            <a:ext cx="16002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39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03320"/>
            <a:ext cx="1600200" cy="502920"/>
          </a:xfrm>
          <a:prstGeom prst="round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508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E1E1E"/>
                </a:solidFill>
                <a:latin typeface="Arial"/>
              </a:rP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72768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rial"/>
              </a:rPr>
              <a:t>Order ORD-001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103120"/>
            <a:ext cx="46634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304288"/>
            <a:ext cx="4114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E1E1E"/>
                </a:solidFill>
                <a:latin typeface="Arial"/>
              </a:rPr>
              <a:t>Customer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697480"/>
            <a:ext cx="4023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Name: Nguyen Van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999232"/>
            <a:ext cx="4023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Phone: 09xxxxxxxx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300984"/>
            <a:ext cx="4023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Address: 123 Example Street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2103120"/>
            <a:ext cx="324612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304288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E1E1E"/>
                </a:solidFill>
                <a:latin typeface="Arial"/>
              </a:rPr>
              <a:t>Order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2724912"/>
            <a:ext cx="2560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2" y="2724912"/>
            <a:ext cx="2331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1E1E1E"/>
                </a:solidFill>
                <a:latin typeface="Arial"/>
              </a:rPr>
              <a:t>PENDING 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227832"/>
            <a:ext cx="2560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Payment: UNPAID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977639"/>
            <a:ext cx="192024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71216" y="3977639"/>
            <a:ext cx="18470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Product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3977639"/>
            <a:ext cx="141732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1456" y="3977639"/>
            <a:ext cx="1344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SKU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977639"/>
            <a:ext cx="73152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8776" y="3977639"/>
            <a:ext cx="6583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Qty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3720" y="3977639"/>
            <a:ext cx="114300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0296" y="3977639"/>
            <a:ext cx="10698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Unit Price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3977639"/>
            <a:ext cx="1188720" cy="502920"/>
          </a:xfrm>
          <a:prstGeom prst="rect">
            <a:avLst/>
          </a:prstGeom>
          <a:solidFill>
            <a:srgbClr val="E1E1E1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83296" y="3977639"/>
            <a:ext cx="11155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1E1E1E"/>
                </a:solidFill>
                <a:latin typeface="Arial"/>
              </a:rPr>
              <a:t>Item Total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480559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480559"/>
            <a:ext cx="18470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Laptop 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4480559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91456" y="4480559"/>
            <a:ext cx="1344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LAP-A-001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480559"/>
            <a:ext cx="731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08776" y="4480559"/>
            <a:ext cx="6583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03720" y="4480559"/>
            <a:ext cx="1143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0296" y="4480559"/>
            <a:ext cx="10698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$800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4480559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83296" y="4480559"/>
            <a:ext cx="11155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$800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983479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71216" y="4983479"/>
            <a:ext cx="18470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Mouse 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4983479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91456" y="4983479"/>
            <a:ext cx="1344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MOU-C-003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983479"/>
            <a:ext cx="731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08776" y="4983479"/>
            <a:ext cx="6583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03720" y="4983479"/>
            <a:ext cx="1143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0296" y="4983479"/>
            <a:ext cx="10698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$30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4983479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83296" y="4983479"/>
            <a:ext cx="11155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1E1E1E"/>
                </a:solidFill>
                <a:latin typeface="Arial"/>
              </a:rPr>
              <a:t>$60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79" y="5212080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E1E1E"/>
                </a:solidFill>
                <a:latin typeface="Arial"/>
              </a:rPr>
              <a:t>Total Amount: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38360" y="521208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1E1E1E"/>
                </a:solidFill>
                <a:latin typeface="Arial"/>
              </a:rPr>
              <a:t>$860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26679" y="5623560"/>
            <a:ext cx="3246120" cy="4572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26679" y="5623560"/>
            <a:ext cx="3246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SAVE STATUS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Arial"/>
              </a:rPr>
              <a:t>PENDING → CONFIRMED → SHIPPING → DELIVERED; PENDING → CANCELLED. DELIVERED sets payment_status = PAID.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